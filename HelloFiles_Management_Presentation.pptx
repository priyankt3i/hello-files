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2628900"/>
            <a:ext cx="82296" cy="22860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2514600"/>
            <a:ext cx="82296" cy="45720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46520" y="2354580"/>
            <a:ext cx="82296" cy="77724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2148840"/>
            <a:ext cx="82296" cy="118872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03720" y="2446020"/>
            <a:ext cx="82296" cy="59436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0" y="2560320"/>
            <a:ext cx="82296" cy="36576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2400300"/>
            <a:ext cx="82296" cy="68580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2034540"/>
            <a:ext cx="82296" cy="141732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2286000"/>
            <a:ext cx="82296" cy="91440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2537460"/>
            <a:ext cx="82296" cy="41148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423160"/>
            <a:ext cx="82296" cy="64008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2194560"/>
            <a:ext cx="82296" cy="109728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2446020"/>
            <a:ext cx="82296" cy="59436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2583180"/>
            <a:ext cx="82296" cy="32004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20" y="2331720"/>
            <a:ext cx="82296" cy="82296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2491740"/>
            <a:ext cx="82296" cy="50292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46920" y="2606040"/>
            <a:ext cx="82296" cy="27432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5520" y="2651760"/>
            <a:ext cx="82296" cy="18288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234440"/>
            <a:ext cx="6858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2FADBE"/>
                </a:solidFill>
                <a:latin typeface="Aptos"/>
              </a:rPr>
              <a:t>Hello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05740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A"/>
                </a:solidFill>
                <a:latin typeface="Aptos"/>
              </a:rPr>
              <a:t>Secure Local-First File Search and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274320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AB8C4"/>
                </a:solidFill>
                <a:latin typeface="Aptos"/>
              </a:rPr>
              <a:t>Local Directory Indexing → Hardware Secrets Store → Vectorless Fallbacks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461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8C4"/>
                </a:solidFill>
                <a:latin typeface="Aptos"/>
              </a:rPr>
              <a:t>Management Overview • Data Loss Prevention + Native OS Vault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8FA"/>
                </a:solidFill>
                <a:latin typeface="Aptos"/>
              </a:rPr>
              <a:t>Securing enterprise corporate files on employee laptops while leveraging large language models.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8C4"/>
                </a:solidFill>
                <a:latin typeface="Aptos"/>
              </a:rPr>
              <a:t>Hello Files • Secure Local-First Search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The Problem: Scattered Local Files &amp; The Security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Why we need Hello Files and why we built it as a local-first search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1874519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74519"/>
          </a:xfrm>
          <a:prstGeom prst="rect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SCATTERED CORPORATE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937759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Project documentation, specs, manuals, and code files are scattered across folders in mixed formats (PDF, DOCX, XLSX). Searching them manually takes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1874519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73152" cy="1874519"/>
          </a:xfrm>
          <a:prstGeom prst="rect">
            <a:avLst/>
          </a:prstGeom>
          <a:solidFill>
            <a:srgbClr val="26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8191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PRODUCTIVITY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937759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Employees need a fast, semantic, chat-based query interface to search local folders and find exact answers with citations.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349240" cy="1874519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57600"/>
            <a:ext cx="73152" cy="1874519"/>
          </a:xfrm>
          <a:prstGeom prst="rect">
            <a:avLst/>
          </a:prstGeom>
          <a:solidFill>
            <a:srgbClr val="C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DLP &amp; SECURITY RESTRICTIONS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51960"/>
            <a:ext cx="4937759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Standard AI RAG systems require uploading these sensitive files to external cloud databases, which violates corporate data protection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657600"/>
            <a:ext cx="5349240" cy="1874519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657600"/>
            <a:ext cx="73152" cy="1874519"/>
          </a:xfrm>
          <a:prstGeom prst="rect">
            <a:avLst/>
          </a:prstGeom>
          <a:solidFill>
            <a:srgbClr val="43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822191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WHY WE BUILT HELLO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251960"/>
            <a:ext cx="4937759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To provide a local-first Electron workspace that parses and indexes folders directly in-place, keeping files offline and keys in the OS secure vault.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8C4"/>
                </a:solidFill>
                <a:latin typeface="Aptos"/>
              </a:rPr>
              <a:t>Hello Files • Secure Local-First Search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Introducing Hello Files: Secure Local-First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A sandboxed desktop application that protects keys and content at the local OS boundary.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01 • LOCAL FILE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0632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Indexes and stores SQLite states strictly locally in a hidden .fschat-index/ folder inside the directory.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828800"/>
          </a:xfrm>
          <a:prstGeom prst="rect">
            <a:avLst/>
          </a:prstGeom>
          <a:solidFill>
            <a:srgbClr val="26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02 • OS SECURE VAULT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632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API keys are saved directly in the OS password manager (Windows Credential Manager) via C++ keytar bindings.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43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03 • VECTORLESS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0632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Supports lexical manifest-first search, allowing 100% offline retrieval without embedding providers.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3657600"/>
            <a:ext cx="3474720" cy="182880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3657600"/>
            <a:ext cx="73152" cy="1828800"/>
          </a:xfrm>
          <a:prstGeom prst="rect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3822191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04 • SECURE ENCLAVE PROXIES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251960"/>
            <a:ext cx="30632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Integrates with internal company LLM endpoints or local Ollama instances, blocking raw network exposure.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3474720" cy="182880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73152" cy="182880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822191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A"/>
                </a:solidFill>
                <a:latin typeface="Aptos"/>
              </a:rPr>
              <a:t>05 • SMART REBUILDS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51960"/>
            <a:ext cx="30632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Uses file stats and content hashes to build and update the index incrementally, saving CPU resources.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8C4"/>
                </a:solidFill>
                <a:latin typeface="Aptos"/>
              </a:rPr>
              <a:t>Hello Files • Secure Local-First Search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Hello Files Architecture: Local Indexing and Secure Client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1417320" cy="1051560"/>
          </a:xfrm>
          <a:prstGeom prst="roundRect">
            <a:avLst/>
          </a:prstGeom>
          <a:solidFill>
            <a:srgbClr val="18293A"/>
          </a:solidFill>
          <a:ln w="25400">
            <a:solidFill>
              <a:srgbClr val="26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304288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5F8FA"/>
                </a:solidFill>
                <a:latin typeface="Aptos"/>
              </a:rPr>
              <a:t>Local Folders
on Disk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2148840"/>
            <a:ext cx="1417320" cy="1051560"/>
          </a:xfrm>
          <a:prstGeom prst="roundRect">
            <a:avLst/>
          </a:prstGeom>
          <a:solidFill>
            <a:srgbClr val="18293A"/>
          </a:solidFill>
          <a:ln w="25400">
            <a:solidFill>
              <a:srgbClr val="2F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04872" y="2304288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5F8FA"/>
                </a:solidFill>
                <a:latin typeface="Aptos"/>
              </a:rPr>
              <a:t>Python Indexer
Worker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148840"/>
            <a:ext cx="1417320" cy="1051560"/>
          </a:xfrm>
          <a:prstGeom prst="roundRect">
            <a:avLst/>
          </a:prstGeom>
          <a:solidFill>
            <a:srgbClr val="18293A"/>
          </a:solidFill>
          <a:ln w="25400">
            <a:solidFill>
              <a:srgbClr val="EB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2304288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5F8FA"/>
                </a:solidFill>
                <a:latin typeface="Aptos"/>
              </a:rPr>
              <a:t>SQLite Local
App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148840"/>
            <a:ext cx="1417320" cy="1051560"/>
          </a:xfrm>
          <a:prstGeom prst="roundRect">
            <a:avLst/>
          </a:prstGeom>
          <a:solidFill>
            <a:srgbClr val="18293A"/>
          </a:solidFill>
          <a:ln w="25400">
            <a:solidFill>
              <a:srgbClr val="26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2304288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5F8FA"/>
                </a:solidFill>
                <a:latin typeface="Aptos"/>
              </a:rPr>
              <a:t>OS Vault
(Keytar Keys)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1417320" cy="1051560"/>
          </a:xfrm>
          <a:prstGeom prst="roundRect">
            <a:avLst/>
          </a:prstGeom>
          <a:solidFill>
            <a:srgbClr val="18293A"/>
          </a:solidFill>
          <a:ln w="25400">
            <a:solidFill>
              <a:srgbClr val="43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2" y="2304288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5F8FA"/>
                </a:solidFill>
                <a:latin typeface="Aptos"/>
              </a:rPr>
              <a:t>Vector /
Vectorless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2148840"/>
            <a:ext cx="1417320" cy="1051560"/>
          </a:xfrm>
          <a:prstGeom prst="roundRect">
            <a:avLst/>
          </a:prstGeom>
          <a:solidFill>
            <a:srgbClr val="18293A"/>
          </a:solidFill>
          <a:ln w="25400">
            <a:solidFill>
              <a:srgbClr val="2F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20072" y="2304288"/>
            <a:ext cx="1280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5F8FA"/>
                </a:solidFill>
                <a:latin typeface="Aptos"/>
              </a:rPr>
              <a:t>Electron Shell
Sandbox App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38528" y="2670048"/>
            <a:ext cx="365760" cy="0"/>
          </a:xfrm>
          <a:prstGeom prst="line">
            <a:avLst/>
          </a:prstGeom>
          <a:ln w="22860">
            <a:solidFill>
              <a:srgbClr val="AA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67328" y="2670048"/>
            <a:ext cx="365760" cy="0"/>
          </a:xfrm>
          <a:prstGeom prst="line">
            <a:avLst/>
          </a:prstGeom>
          <a:ln w="22860">
            <a:solidFill>
              <a:srgbClr val="AA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96128" y="2670048"/>
            <a:ext cx="365760" cy="0"/>
          </a:xfrm>
          <a:prstGeom prst="line">
            <a:avLst/>
          </a:prstGeom>
          <a:ln w="22860">
            <a:solidFill>
              <a:srgbClr val="AA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24927" y="2670048"/>
            <a:ext cx="365761" cy="0"/>
          </a:xfrm>
          <a:prstGeom prst="line">
            <a:avLst/>
          </a:prstGeom>
          <a:ln w="22860">
            <a:solidFill>
              <a:srgbClr val="AA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53728" y="2670048"/>
            <a:ext cx="365760" cy="0"/>
          </a:xfrm>
          <a:prstGeom prst="line">
            <a:avLst/>
          </a:prstGeom>
          <a:ln w="22860">
            <a:solidFill>
              <a:srgbClr val="AA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057400" y="3977639"/>
            <a:ext cx="3703320" cy="109728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57400" y="3977639"/>
            <a:ext cx="73152" cy="109728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4142231"/>
            <a:ext cx="3291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LOCAL INDEXING WORKER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572000"/>
            <a:ext cx="3291839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Python indexing worker extracts text, chunks content, and stores SQLite references adjacent to source folders.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3977639"/>
            <a:ext cx="3703320" cy="109728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3977639"/>
            <a:ext cx="73152" cy="1097280"/>
          </a:xfrm>
          <a:prstGeom prst="rect">
            <a:avLst/>
          </a:prstGeom>
          <a:solidFill>
            <a:srgbClr val="43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142231"/>
            <a:ext cx="3291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DESKTOP SHELL (ELECTRON)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572000"/>
            <a:ext cx="3291839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Operates on-disk, bootstrapping database setups, OAuth loops, and OS keychain configurations safely.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62356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8FA"/>
                </a:solidFill>
                <a:latin typeface="Aptos"/>
              </a:rPr>
              <a:t>Lexical searches and files remain 100% offline; LLM calls send only text queries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8C4"/>
                </a:solidFill>
                <a:latin typeface="Aptos"/>
              </a:rPr>
              <a:t>Hello Files • Secure Local-First Search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Project Completion &amp; Verification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5F8FA"/>
                </a:solidFill>
                <a:latin typeface="Aptos"/>
              </a:rPr>
              <a:t>Python Indexer &amp; SQLite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97864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3AA82"/>
                </a:solidFill>
                <a:latin typeface="Aptos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80" y="12344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Worker daemons, folder parsers, document text/image extraction (OCR)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671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5F8FA"/>
                </a:solidFill>
                <a:latin typeface="Aptos"/>
              </a:rPr>
              <a:t>Vector &amp; Vectorless Search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30552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3AA82"/>
                </a:solidFill>
                <a:latin typeface="Aptos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16712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Embedding semantic vector search and offline manifest-first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9816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5F8FA"/>
                </a:solidFill>
                <a:latin typeface="Aptos"/>
              </a:rPr>
              <a:t>OS Vault Vault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6324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3AA82"/>
                </a:solidFill>
                <a:latin typeface="Apto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309981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Native API key protection via C++ keytar bindings on Windows/macOS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32504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5F8FA"/>
                </a:solidFill>
                <a:latin typeface="Aptos"/>
              </a:rPr>
              <a:t>React Electron Desktop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95928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FADBE"/>
                </a:solidFill>
                <a:latin typeface="Aptos"/>
              </a:rP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032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Directory index settings panel, channel chat console, connection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651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5F8FA"/>
                </a:solidFill>
                <a:latin typeface="Aptos"/>
              </a:rPr>
              <a:t>Visual &amp; PDF Page Parsing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928616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3AA82"/>
                </a:solidFill>
                <a:latin typeface="Aptos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49651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PDF/Word image indexing and metadata indexing processes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9788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2FADBE"/>
                </a:solidFill>
                <a:latin typeface="Aptos"/>
              </a:rPr>
              <a:t>~95%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92531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OVERALL PROJECT READINESS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92531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3AA82"/>
                </a:solidFill>
                <a:latin typeface="Aptos"/>
              </a:rPr>
              <a:t>Fully functional local desktop search app ready for initial corporate 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8C4"/>
                </a:solidFill>
                <a:latin typeface="Aptos"/>
              </a:rPr>
              <a:t>Hello Files • Secure Local-First Search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Management Q&amp;A: Why Not TestNG Java?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25196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4251960"/>
          </a:xfrm>
          <a:prstGeom prst="rect">
            <a:avLst/>
          </a:prstGeom>
          <a:solidFill>
            <a:srgbClr val="26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DESKTOP CLIENT UTILITY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06323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4"/>
                </a:solidFill>
                <a:latin typeface="Aptos"/>
              </a:rPr>
              <a:t>Hello Files is a local visual search dashboard, not an automated regression test harness. TestNG has no alignment with interactive desktop tooling.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425196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73152" cy="425196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NATIVE OS SECURITY API BINDINGS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6323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4"/>
                </a:solidFill>
                <a:latin typeface="Aptos"/>
              </a:rPr>
              <a:t>Accessing native OS security credential storage (Windows Credential Manager / macOS Keychain) requires C++ bindings like keytar. Electron packages this cleanly.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74720" cy="425196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73152" cy="4251960"/>
          </a:xfrm>
          <a:prstGeom prst="rect">
            <a:avLst/>
          </a:prstGeom>
          <a:solidFill>
            <a:srgbClr val="43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CLIENT FILE-SYSTEM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06323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4"/>
                </a:solidFill>
                <a:latin typeface="Aptos"/>
              </a:rPr>
              <a:t>Running sandboxed desktop interactions, custom file explorer links, and local index builders is natively handled via React/Electron and Python threads.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80644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8FA"/>
                </a:solidFill>
                <a:latin typeface="Aptos"/>
              </a:rPr>
              <a:t>Interactive desktop tools require visual frameworks like Electron rather than automated test harnesses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8C4"/>
                </a:solidFill>
                <a:latin typeface="Aptos"/>
              </a:rPr>
              <a:t>Hello Files • Secure Local-First Search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Management Q&amp;A: Why Not Standard Open-Source RAG Tools?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25196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4251960"/>
          </a:xfrm>
          <a:prstGeom prst="rect">
            <a:avLst/>
          </a:prstGeom>
          <a:solidFill>
            <a:srgbClr val="2F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NO LOCAL SERVER PORT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06323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4"/>
                </a:solidFill>
                <a:latin typeface="Aptos"/>
              </a:rPr>
              <a:t>Open-source RAG platforms run servers and Docker layers on endpoints, exposing local ports. Hello Files runs as a sandboxed local client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425196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73152" cy="4251960"/>
          </a:xfrm>
          <a:prstGeom prst="rect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OS VAULT VS PLAIN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6323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4"/>
                </a:solidFill>
                <a:latin typeface="Aptos"/>
              </a:rPr>
              <a:t>Standard UIs write connection credentials to plain text config files. Hello Files hides all credentials securely in the Windows Credential vault.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74720" cy="4251960"/>
          </a:xfrm>
          <a:prstGeom prst="roundRect">
            <a:avLst/>
          </a:prstGeom>
          <a:solidFill>
            <a:srgbClr val="18293A"/>
          </a:solidFill>
          <a:ln>
            <a:solidFill>
              <a:srgbClr val="304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73152" cy="4251960"/>
          </a:xfrm>
          <a:prstGeom prst="rect">
            <a:avLst/>
          </a:prstGeom>
          <a:solidFill>
            <a:srgbClr val="26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904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OFFLINE RETRIEVAL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06323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AB8C4"/>
                </a:solidFill>
                <a:latin typeface="Aptos"/>
              </a:rPr>
              <a:t>Standard builders force connection to third-party embedding APIs. Hello Files features Vectorless RAG mode to index documents completely offline.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8C4"/>
                </a:solidFill>
                <a:latin typeface="Aptos"/>
              </a:rPr>
              <a:t>Hello Files • Secure Local-First Search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700" b="1">
                <a:solidFill>
                  <a:srgbClr val="2FADBE"/>
                </a:solidFill>
                <a:latin typeface="Aptos"/>
              </a:rPr>
              <a:t>Hello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9966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• Provides a secure, local-first search and chat workspace for sensitive directories on user laptops.</a:t>
            </a:r>
          </a:p>
          <a:p>
            <a:pPr>
              <a:spcAft>
                <a:spcPts val="10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• Guarantees that files never leave local disks by storing search manifests inside hidden directory indexes.</a:t>
            </a:r>
          </a:p>
          <a:p>
            <a:pPr>
              <a:spcAft>
                <a:spcPts val="10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• Secures API keys and credentials directly inside the native Windows Credential Manager via C++ keytar.</a:t>
            </a:r>
          </a:p>
          <a:p>
            <a:pPr>
              <a:spcAft>
                <a:spcPts val="10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• Features a Vectorless RAG mode to run index and retrieval cycles completely offline.</a:t>
            </a:r>
          </a:p>
          <a:p>
            <a:pPr>
              <a:spcAft>
                <a:spcPts val="10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• Integrates a Python text extractor (PDF, Word, Excel, local OCR) with a sandboxed Electron UI.</a:t>
            </a:r>
          </a:p>
          <a:p>
            <a:pPr>
              <a:spcAft>
                <a:spcPts val="1000"/>
              </a:spcAft>
              <a:defRPr sz="1500">
                <a:solidFill>
                  <a:srgbClr val="F5F8FA"/>
                </a:solidFill>
                <a:latin typeface="Aptos"/>
              </a:defRPr>
            </a:pPr>
            <a:r>
              <a:t>• Overall project readiness is ~95% and the core search engine is operational.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40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9741"/>
                </a:solidFill>
                <a:latin typeface="Aptos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413248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Approve local team beta deployment pilot for secure offline folder 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8C4"/>
                </a:solidFill>
                <a:latin typeface="Aptos"/>
              </a:rPr>
              <a:t>Hello Files • Secure Local-First Search   |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